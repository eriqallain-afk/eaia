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8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897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hatGPT Image 10 mai 2026, 11_18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92608"/>
            <a:ext cx="2697480" cy="202311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49808" y="1691640"/>
            <a:ext cx="10698480" cy="4526280"/>
          </a:xfrm>
          <a:prstGeom prst="roundRect">
            <a:avLst/>
          </a:prstGeom>
          <a:solidFill>
            <a:srgbClr val="101016"/>
          </a:solidFill>
          <a:ln>
            <a:solidFill>
              <a:srgbClr val="C89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993392"/>
            <a:ext cx="9601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3000">
                <a:solidFill>
                  <a:srgbClr val="E5E5EA"/>
                </a:solidFill>
              </a:rPr>
              <a:t>MSP Intelligence 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670048"/>
            <a:ext cx="9418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F5F5F5"/>
                </a:solidFill>
              </a:rPr>
              <a:t>Le système d’exploitation IA pour MSP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3364992"/>
            <a:ext cx="4297680" cy="1737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2000">
                <a:solidFill>
                  <a:srgbClr val="E1E1E6"/>
                </a:solidFill>
              </a:defRPr>
            </a:pPr>
            <a:r>
              <a:t>• 32 agents spécialisés</a:t>
            </a:r>
          </a:p>
          <a:p>
            <a:pPr>
              <a:spcAft>
                <a:spcPts val="700"/>
              </a:spcAft>
              <a:defRPr sz="2000">
                <a:solidFill>
                  <a:srgbClr val="E1E1E6"/>
                </a:solidFill>
              </a:defRPr>
            </a:pPr>
            <a:r>
              <a:t>• 123 fichiers runbooks</a:t>
            </a:r>
          </a:p>
          <a:p>
            <a:pPr>
              <a:spcAft>
                <a:spcPts val="700"/>
              </a:spcAft>
              <a:defRPr sz="2000">
                <a:solidFill>
                  <a:srgbClr val="E1E1E6"/>
                </a:solidFill>
              </a:defRPr>
            </a:pPr>
            <a:r>
              <a:t>• 37 règles de dispatch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89320" y="3364992"/>
            <a:ext cx="4297680" cy="1737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2000">
                <a:solidFill>
                  <a:srgbClr val="E1E1E6"/>
                </a:solidFill>
              </a:defRPr>
            </a:pPr>
            <a:r>
              <a:t>• Templates, scripts, checklists</a:t>
            </a:r>
          </a:p>
          <a:p>
            <a:pPr>
              <a:spcAft>
                <a:spcPts val="700"/>
              </a:spcAft>
              <a:defRPr sz="2000">
                <a:solidFill>
                  <a:srgbClr val="E1E1E6"/>
                </a:solidFill>
              </a:defRPr>
            </a:pPr>
            <a:r>
              <a:t>• Cas réels anonymisés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566928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2CE87"/>
                </a:solidFill>
              </a:rPr>
              <a:t>EA IA - Intelligence artificielle opérationnelle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8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897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hatGPT Image 10 mai 2026, 11_18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92608"/>
            <a:ext cx="2697480" cy="202311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49808" y="1691640"/>
            <a:ext cx="10698480" cy="4526280"/>
          </a:xfrm>
          <a:prstGeom prst="roundRect">
            <a:avLst/>
          </a:prstGeom>
          <a:solidFill>
            <a:srgbClr val="101016"/>
          </a:solidFill>
          <a:ln>
            <a:solidFill>
              <a:srgbClr val="C89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993392"/>
            <a:ext cx="9601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3000">
                <a:solidFill>
                  <a:srgbClr val="E5E5EA"/>
                </a:solidFill>
              </a:rPr>
              <a:t>Pourquoi maintenant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670048"/>
            <a:ext cx="9418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F5F5F5"/>
                </a:solidFill>
              </a:rPr>
              <a:t>Les MSP perdent trop de temps dans la documentation et le routing.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3364992"/>
            <a:ext cx="4297680" cy="1737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2000">
                <a:solidFill>
                  <a:srgbClr val="E1E1E6"/>
                </a:solidFill>
              </a:defRPr>
            </a:pPr>
            <a:r>
              <a:t>• Tickets hétérogènes</a:t>
            </a:r>
          </a:p>
          <a:p>
            <a:pPr>
              <a:spcAft>
                <a:spcPts val="700"/>
              </a:spcAft>
              <a:defRPr sz="2000">
                <a:solidFill>
                  <a:srgbClr val="E1E1E6"/>
                </a:solidFill>
              </a:defRPr>
            </a:pPr>
            <a:r>
              <a:t>• Connaissance perdue</a:t>
            </a:r>
          </a:p>
          <a:p>
            <a:pPr>
              <a:spcAft>
                <a:spcPts val="700"/>
              </a:spcAft>
              <a:defRPr sz="2000">
                <a:solidFill>
                  <a:srgbClr val="E1E1E6"/>
                </a:solidFill>
              </a:defRPr>
            </a:pPr>
            <a:r>
              <a:t>• Alertes NOC sans contexte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89320" y="3364992"/>
            <a:ext cx="4297680" cy="1737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2000">
                <a:solidFill>
                  <a:srgbClr val="E1E1E6"/>
                </a:solidFill>
              </a:defRPr>
            </a:pPr>
            <a:r>
              <a:t>• Seniors surchargés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566928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2CE87"/>
                </a:solidFill>
              </a:rPr>
              <a:t>EA IA - Intelligence artificielle opérationnelle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8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897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hatGPT Image 10 mai 2026, 11_18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92608"/>
            <a:ext cx="2697480" cy="202311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49808" y="1691640"/>
            <a:ext cx="10698480" cy="4526280"/>
          </a:xfrm>
          <a:prstGeom prst="roundRect">
            <a:avLst/>
          </a:prstGeom>
          <a:solidFill>
            <a:srgbClr val="101016"/>
          </a:solidFill>
          <a:ln>
            <a:solidFill>
              <a:srgbClr val="C89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993392"/>
            <a:ext cx="9601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3000">
                <a:solidFill>
                  <a:srgbClr val="E5E5EA"/>
                </a:solidFill>
              </a:rPr>
              <a:t>Ce que fait le produit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670048"/>
            <a:ext cx="9418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F5F5F5"/>
                </a:solidFill>
              </a:rPr>
              <a:t>Du billet brut à la clôture propre.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3364992"/>
            <a:ext cx="4297680" cy="1737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2000">
                <a:solidFill>
                  <a:srgbClr val="E1E1E6"/>
                </a:solidFill>
              </a:defRPr>
            </a:pPr>
            <a:r>
              <a:t>• Triage du billet</a:t>
            </a:r>
          </a:p>
          <a:p>
            <a:pPr>
              <a:spcAft>
                <a:spcPts val="700"/>
              </a:spcAft>
              <a:defRPr sz="2000">
                <a:solidFill>
                  <a:srgbClr val="E1E1E6"/>
                </a:solidFill>
              </a:defRPr>
            </a:pPr>
            <a:r>
              <a:t>• Sélection du runbook</a:t>
            </a:r>
          </a:p>
          <a:p>
            <a:pPr>
              <a:spcAft>
                <a:spcPts val="700"/>
              </a:spcAft>
              <a:defRPr sz="2000">
                <a:solidFill>
                  <a:srgbClr val="E1E1E6"/>
                </a:solidFill>
              </a:defRPr>
            </a:pPr>
            <a:r>
              <a:t>• Guidage intervention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89320" y="3364992"/>
            <a:ext cx="4297680" cy="1737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2000">
                <a:solidFill>
                  <a:srgbClr val="E1E1E6"/>
                </a:solidFill>
              </a:defRPr>
            </a:pPr>
            <a:r>
              <a:t>• Note CW + discussion client</a:t>
            </a:r>
          </a:p>
          <a:p>
            <a:pPr>
              <a:spcAft>
                <a:spcPts val="700"/>
              </a:spcAft>
              <a:defRPr sz="2000">
                <a:solidFill>
                  <a:srgbClr val="E1E1E6"/>
                </a:solidFill>
              </a:defRPr>
            </a:pPr>
            <a:r>
              <a:t>• KB et documentation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566928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2CE87"/>
                </a:solidFill>
              </a:rPr>
              <a:t>EA IA - Intelligence artificielle opérationnelle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8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897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hatGPT Image 10 mai 2026, 11_18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92608"/>
            <a:ext cx="2697480" cy="202311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49808" y="1691640"/>
            <a:ext cx="10698480" cy="4526280"/>
          </a:xfrm>
          <a:prstGeom prst="roundRect">
            <a:avLst/>
          </a:prstGeom>
          <a:solidFill>
            <a:srgbClr val="101016"/>
          </a:solidFill>
          <a:ln>
            <a:solidFill>
              <a:srgbClr val="C89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993392"/>
            <a:ext cx="9601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3000">
                <a:solidFill>
                  <a:srgbClr val="E5E5EA"/>
                </a:solidFill>
              </a:rPr>
              <a:t>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670048"/>
            <a:ext cx="9418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F5F5F5"/>
                </a:solidFill>
              </a:rPr>
              <a:t>Un produit structuré, pas un prompt isolé.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3364992"/>
            <a:ext cx="4297680" cy="1737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2000">
                <a:solidFill>
                  <a:srgbClr val="E1E1E6"/>
                </a:solidFill>
              </a:defRPr>
            </a:pPr>
            <a:r>
              <a:t>• 32 agents</a:t>
            </a:r>
          </a:p>
          <a:p>
            <a:pPr>
              <a:spcAft>
                <a:spcPts val="700"/>
              </a:spcAft>
              <a:defRPr sz="2000">
                <a:solidFill>
                  <a:srgbClr val="E1E1E6"/>
                </a:solidFill>
              </a:defRPr>
            </a:pPr>
            <a:r>
              <a:t>• 29 playbooks</a:t>
            </a:r>
          </a:p>
          <a:p>
            <a:pPr>
              <a:spcAft>
                <a:spcPts val="700"/>
              </a:spcAft>
              <a:defRPr sz="2000">
                <a:solidFill>
                  <a:srgbClr val="E1E1E6"/>
                </a:solidFill>
              </a:defRPr>
            </a:pPr>
            <a:r>
              <a:t>• 93 templates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89320" y="3364992"/>
            <a:ext cx="4297680" cy="1737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2000">
                <a:solidFill>
                  <a:srgbClr val="E1E1E6"/>
                </a:solidFill>
              </a:defRPr>
            </a:pPr>
            <a:r>
              <a:t>• 30 scripts</a:t>
            </a:r>
          </a:p>
          <a:p>
            <a:pPr>
              <a:spcAft>
                <a:spcPts val="700"/>
              </a:spcAft>
              <a:defRPr sz="2000">
                <a:solidFill>
                  <a:srgbClr val="E1E1E6"/>
                </a:solidFill>
              </a:defRPr>
            </a:pPr>
            <a:r>
              <a:t>• 37 pages de preuve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566928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2CE87"/>
                </a:solidFill>
              </a:rPr>
              <a:t>EA IA - Intelligence artificielle opérationnelle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8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897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hatGPT Image 10 mai 2026, 11_18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92608"/>
            <a:ext cx="2697480" cy="202311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49808" y="1691640"/>
            <a:ext cx="10698480" cy="4526280"/>
          </a:xfrm>
          <a:prstGeom prst="roundRect">
            <a:avLst/>
          </a:prstGeom>
          <a:solidFill>
            <a:srgbClr val="101016"/>
          </a:solidFill>
          <a:ln>
            <a:solidFill>
              <a:srgbClr val="C89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993392"/>
            <a:ext cx="9601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3000">
                <a:solidFill>
                  <a:srgbClr val="E5E5EA"/>
                </a:solidFill>
              </a:rPr>
              <a:t>Produit phare EA 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670048"/>
            <a:ext cx="9418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F5F5F5"/>
                </a:solidFill>
              </a:rPr>
              <a:t>Bâti sur 25 ans terrain et 164 formations.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3364992"/>
            <a:ext cx="4297680" cy="1737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2000">
                <a:solidFill>
                  <a:srgbClr val="E1E1E6"/>
                </a:solidFill>
              </a:defRPr>
            </a:pPr>
            <a:r>
              <a:t>• CW, N-able, Hudu</a:t>
            </a:r>
          </a:p>
          <a:p>
            <a:pPr>
              <a:spcAft>
                <a:spcPts val="700"/>
              </a:spcAft>
              <a:defRPr sz="2000">
                <a:solidFill>
                  <a:srgbClr val="E1E1E6"/>
                </a:solidFill>
              </a:defRPr>
            </a:pPr>
            <a:r>
              <a:t>• Veeam, Datto, AD, M365</a:t>
            </a:r>
          </a:p>
          <a:p>
            <a:pPr>
              <a:spcAft>
                <a:spcPts val="700"/>
              </a:spcAft>
              <a:defRPr sz="2000">
                <a:solidFill>
                  <a:srgbClr val="E1E1E6"/>
                </a:solidFill>
              </a:defRPr>
            </a:pPr>
            <a:r>
              <a:t>• Azure, RMM, sécurité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89320" y="3364992"/>
            <a:ext cx="4297680" cy="1737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2000">
                <a:solidFill>
                  <a:srgbClr val="E1E1E6"/>
                </a:solidFill>
              </a:defRPr>
            </a:pPr>
            <a:r>
              <a:t>• Cas réels anonymisés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566928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2CE87"/>
                </a:solidFill>
              </a:rPr>
              <a:t>EA IA - Intelligence artificielle opérationnelle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8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897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hatGPT Image 10 mai 2026, 11_18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92608"/>
            <a:ext cx="2697480" cy="202311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49808" y="1691640"/>
            <a:ext cx="10698480" cy="4526280"/>
          </a:xfrm>
          <a:prstGeom prst="roundRect">
            <a:avLst/>
          </a:prstGeom>
          <a:solidFill>
            <a:srgbClr val="101016"/>
          </a:solidFill>
          <a:ln>
            <a:solidFill>
              <a:srgbClr val="C89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993392"/>
            <a:ext cx="9601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3000">
                <a:solidFill>
                  <a:srgbClr val="E5E5EA"/>
                </a:solidFill>
              </a:rPr>
              <a:t>Offre pilote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670048"/>
            <a:ext cx="9418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F5F5F5"/>
                </a:solidFill>
              </a:rPr>
              <a:t>3 MSP pilotes seulement.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3364992"/>
            <a:ext cx="4297680" cy="1737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2000">
                <a:solidFill>
                  <a:srgbClr val="E1E1E6"/>
                </a:solidFill>
              </a:defRPr>
            </a:pPr>
            <a:r>
              <a:t>• Diagnostic opérationnel</a:t>
            </a:r>
          </a:p>
          <a:p>
            <a:pPr>
              <a:spcAft>
                <a:spcPts val="700"/>
              </a:spcAft>
              <a:defRPr sz="2000">
                <a:solidFill>
                  <a:srgbClr val="E1E1E6"/>
                </a:solidFill>
              </a:defRPr>
            </a:pPr>
            <a:r>
              <a:t>• Installation Starter/Pro</a:t>
            </a:r>
          </a:p>
          <a:p>
            <a:pPr>
              <a:spcAft>
                <a:spcPts val="700"/>
              </a:spcAft>
              <a:defRPr sz="2000">
                <a:solidFill>
                  <a:srgbClr val="E1E1E6"/>
                </a:solidFill>
              </a:defRPr>
            </a:pPr>
            <a:r>
              <a:t>• Personnalisation templates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89320" y="3364992"/>
            <a:ext cx="4297680" cy="1737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2000">
                <a:solidFill>
                  <a:srgbClr val="E1E1E6"/>
                </a:solidFill>
              </a:defRPr>
            </a:pPr>
            <a:r>
              <a:t>• Formation 90 minutes</a:t>
            </a:r>
          </a:p>
          <a:p>
            <a:pPr>
              <a:spcAft>
                <a:spcPts val="700"/>
              </a:spcAft>
              <a:defRPr sz="2000">
                <a:solidFill>
                  <a:srgbClr val="E1E1E6"/>
                </a:solidFill>
              </a:defRPr>
            </a:pPr>
            <a:r>
              <a:t>• Démo sur billets réels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566928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2CE87"/>
                </a:solidFill>
              </a:rPr>
              <a:t>EA IA - Intelligence artificielle opérationnelle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8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897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hatGPT Image 10 mai 2026, 11_18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92608"/>
            <a:ext cx="2697480" cy="202311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49808" y="1691640"/>
            <a:ext cx="10698480" cy="4526280"/>
          </a:xfrm>
          <a:prstGeom prst="roundRect">
            <a:avLst/>
          </a:prstGeom>
          <a:solidFill>
            <a:srgbClr val="101016"/>
          </a:solidFill>
          <a:ln>
            <a:solidFill>
              <a:srgbClr val="C89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993392"/>
            <a:ext cx="9601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3000">
                <a:solidFill>
                  <a:srgbClr val="E5E5EA"/>
                </a:solidFill>
              </a:rPr>
              <a:t>Appel à l’action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670048"/>
            <a:ext cx="9418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F5F5F5"/>
                </a:solidFill>
              </a:rPr>
              <a:t>Lancer la campagne et réserver les démos.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3364992"/>
            <a:ext cx="4297680" cy="1737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2000">
                <a:solidFill>
                  <a:srgbClr val="E1E1E6"/>
                </a:solidFill>
              </a:defRPr>
            </a:pPr>
            <a:r>
              <a:t>• Page de vente</a:t>
            </a:r>
          </a:p>
          <a:p>
            <a:pPr>
              <a:spcAft>
                <a:spcPts val="700"/>
              </a:spcAft>
              <a:defRPr sz="2000">
                <a:solidFill>
                  <a:srgbClr val="E1E1E6"/>
                </a:solidFill>
              </a:defRPr>
            </a:pPr>
            <a:r>
              <a:t>• Courriels MSP</a:t>
            </a:r>
          </a:p>
          <a:p>
            <a:pPr>
              <a:spcAft>
                <a:spcPts val="700"/>
              </a:spcAft>
              <a:defRPr sz="2000">
                <a:solidFill>
                  <a:srgbClr val="E1E1E6"/>
                </a:solidFill>
              </a:defRPr>
            </a:pPr>
            <a:r>
              <a:t>• LinkedIn + Facebook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89320" y="3364992"/>
            <a:ext cx="4297680" cy="1737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2000">
                <a:solidFill>
                  <a:srgbClr val="E1E1E6"/>
                </a:solidFill>
              </a:defRPr>
            </a:pPr>
            <a:r>
              <a:t>• Vidéo 90 secondes</a:t>
            </a:r>
          </a:p>
          <a:p>
            <a:pPr>
              <a:spcAft>
                <a:spcPts val="700"/>
              </a:spcAft>
              <a:defRPr sz="2000">
                <a:solidFill>
                  <a:srgbClr val="E1E1E6"/>
                </a:solidFill>
              </a:defRPr>
            </a:pPr>
            <a:r>
              <a:t>• Webinaire technique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566928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2CE87"/>
                </a:solidFill>
              </a:rPr>
              <a:t>EA IA - Intelligence artificielle opérationnelle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